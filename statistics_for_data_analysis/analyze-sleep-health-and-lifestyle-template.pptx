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8288000" cy="10287000"/>
  <p:notesSz cx="6858000" cy="9144000"/>
  <p:embeddedFontLst>
    <p:embeddedFont>
      <p:font typeface="Open Sans" panose="020B0606030504020204" pitchFamily="34" charset="0"/>
      <p:regular r:id="rId9"/>
      <p:bold r:id="rId10"/>
      <p:italic r:id="rId11"/>
      <p:boldItalic r:id="rId12"/>
    </p:embeddedFont>
    <p:embeddedFont>
      <p:font typeface="Open Sans Light" panose="020B0306030504020204" pitchFamily="34" charset="0"/>
      <p:regular r:id="rId13"/>
      <p:bold r:id="rId14"/>
      <p:italic r:id="rId15"/>
      <p:boldItalic r:id="rId16"/>
    </p:embeddedFont>
    <p:embeddedFont>
      <p:font typeface="Roboto Mono Light" panose="00000009000000000000" pitchFamily="49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2" d="100"/>
          <a:sy n="42" d="100"/>
        </p:scale>
        <p:origin x="708" y="272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05b2e72063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3dd687b2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3dd687b2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3dd687b2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3dd687b2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3dd687b2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13dd687b2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3dd687b2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3dd687b2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a Lesson Title ">
  <p:cSld name="TITLE_1"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t="3419" b="-340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t="3419" b="-340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w="9525" cap="flat" cmpd="sng">
              <a:solidFill>
                <a:srgbClr val="171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a Full Bullet">
  <p:cSld name="TITLE_AND_BODY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g Full Graphic">
  <p:cSld name="TITLE_ONLY_1_1_1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b Third Card">
  <p:cSld name="TITLE_AND_BODY_1_1_1_3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name="adj" fmla="val 28421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endParaRPr sz="2600" b="1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ubTitle" idx="2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c Half Card">
  <p:cSld name="TITLE_AND_BODY_1_1_1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2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3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e Dual Card">
  <p:cSld name="CUSTOM_1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8"/>
          <p:cNvSpPr/>
          <p:nvPr/>
        </p:nvSpPr>
        <p:spPr>
          <a:xfrm rot="-5400000" flipH="1">
            <a:off x="846450" y="495600"/>
            <a:ext cx="7786200" cy="81378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1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ubTitle" idx="2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3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4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f Triple Card ">
  <p:cSld name="CUSTOM_1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1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2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3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4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5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6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de">
  <p:cSld name="TITLE_AND_BODY_1_1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>
            <a:spLocks noGrp="1"/>
          </p:cNvSpPr>
          <p:nvPr>
            <p:ph type="body" idx="1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Dual Code">
  <p:cSld name="TITLE_AND_BODY_1_1_1_1_2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1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2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Quote Full Card">
  <p:cSld name="CUSTOM_14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name="adj1" fmla="val 20143"/>
              <a:gd name="adj2" fmla="val 0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body" idx="1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419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 rtl="0">
              <a:buNone/>
              <a:defRPr sz="2000">
                <a:solidFill>
                  <a:schemeClr val="dk2"/>
                </a:solidFill>
              </a:defRPr>
            </a:lvl1pPr>
            <a:lvl2pPr lvl="1" algn="r" rtl="0">
              <a:buNone/>
              <a:defRPr sz="2000">
                <a:solidFill>
                  <a:schemeClr val="dk2"/>
                </a:solidFill>
              </a:defRPr>
            </a:lvl2pPr>
            <a:lvl3pPr lvl="2" algn="r" rtl="0">
              <a:buNone/>
              <a:defRPr sz="2000">
                <a:solidFill>
                  <a:schemeClr val="dk2"/>
                </a:solidFill>
              </a:defRPr>
            </a:lvl3pPr>
            <a:lvl4pPr lvl="3" algn="r" rtl="0">
              <a:buNone/>
              <a:defRPr sz="2000">
                <a:solidFill>
                  <a:schemeClr val="dk2"/>
                </a:solidFill>
              </a:defRPr>
            </a:lvl4pPr>
            <a:lvl5pPr lvl="4" algn="r" rtl="0">
              <a:buNone/>
              <a:defRPr sz="2000">
                <a:solidFill>
                  <a:schemeClr val="dk2"/>
                </a:solidFill>
              </a:defRPr>
            </a:lvl5pPr>
            <a:lvl6pPr lvl="5" algn="r" rtl="0">
              <a:buNone/>
              <a:defRPr sz="2000">
                <a:solidFill>
                  <a:schemeClr val="dk2"/>
                </a:solidFill>
              </a:defRPr>
            </a:lvl6pPr>
            <a:lvl7pPr lvl="6" algn="r" rtl="0">
              <a:buNone/>
              <a:defRPr sz="2000">
                <a:solidFill>
                  <a:schemeClr val="dk2"/>
                </a:solidFill>
              </a:defRPr>
            </a:lvl7pPr>
            <a:lvl8pPr lvl="7" algn="r" rtl="0">
              <a:buNone/>
              <a:defRPr sz="2000">
                <a:solidFill>
                  <a:schemeClr val="dk2"/>
                </a:solidFill>
              </a:defRPr>
            </a:lvl8pPr>
            <a:lvl9pPr lvl="8" algn="r" rtl="0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Sleep Health and Lifestyle Analysis</a:t>
            </a:r>
            <a:endParaRPr sz="1000"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lang="en" b="1" dirty="0"/>
              <a:t>Base statistics analysys</a:t>
            </a:r>
            <a:endParaRPr b="1" dirty="0"/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endParaRPr b="1" dirty="0"/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endParaRPr b="1" dirty="0"/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lang="en" b="1" dirty="0"/>
              <a:t>Data Scientist: Hajime Kawata</a:t>
            </a:r>
            <a:endParaRPr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Results of sleep health and lifestyle analysis</a:t>
            </a:r>
            <a:endParaRPr sz="3000">
              <a:solidFill>
                <a:srgbClr val="2D3D4A"/>
              </a:solidFill>
            </a:endParaRPr>
          </a:p>
          <a:p>
            <a:pPr marL="914400" lvl="0" indent="-723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Data Description</a:t>
            </a:r>
            <a:endParaRPr sz="4200"/>
          </a:p>
          <a:p>
            <a:pPr marL="914400" lvl="0" indent="-723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Typical Amount of Physical Activity</a:t>
            </a:r>
            <a:endParaRPr sz="4200"/>
          </a:p>
          <a:p>
            <a:pPr marL="914400" lvl="0" indent="-723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Number of Daily Steps</a:t>
            </a:r>
            <a:endParaRPr sz="4200"/>
          </a:p>
          <a:p>
            <a:pPr marL="914400" lvl="0" indent="-723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Distribution of Heart Rates</a:t>
            </a:r>
            <a:endParaRPr sz="3000">
              <a:solidFill>
                <a:srgbClr val="2D3D4A"/>
              </a:solidFill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Data Description</a:t>
            </a:r>
            <a:endParaRPr sz="6400"/>
          </a:p>
        </p:txBody>
      </p:sp>
      <p:sp>
        <p:nvSpPr>
          <p:cNvPr id="130" name="Google Shape;130;p16"/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altLang="ja-JP" dirty="0"/>
              <a:t>As you inspect the health and sleep quality dataset, notice there are examples of all the data types you are now familiar with.</a:t>
            </a:r>
          </a:p>
          <a:p>
            <a:r>
              <a:rPr lang="en-US" altLang="ja-JP" sz="3200" b="1" dirty="0"/>
              <a:t>Age</a:t>
            </a:r>
            <a:r>
              <a:rPr lang="en-US" altLang="ja-JP" sz="3200" dirty="0"/>
              <a:t>, </a:t>
            </a:r>
            <a:r>
              <a:rPr lang="en-US" altLang="ja-JP" sz="3200" b="1" dirty="0"/>
              <a:t>Sleep Duration (hours)</a:t>
            </a:r>
            <a:r>
              <a:rPr lang="en-US" altLang="ja-JP" sz="3200" dirty="0"/>
              <a:t>, </a:t>
            </a:r>
            <a:r>
              <a:rPr lang="en-US" altLang="ja-JP" sz="3200" b="1" dirty="0"/>
              <a:t>Physical Activity Level (minutes/day)</a:t>
            </a:r>
            <a:r>
              <a:rPr lang="en-US" altLang="ja-JP" sz="3200" dirty="0"/>
              <a:t>, and </a:t>
            </a:r>
            <a:r>
              <a:rPr lang="en-US" altLang="ja-JP" sz="3200" b="1" dirty="0"/>
              <a:t>Blood Pressure (systolic/diastolic)</a:t>
            </a:r>
            <a:r>
              <a:rPr lang="en-US" altLang="ja-JP" sz="3200" dirty="0"/>
              <a:t> are examples of a continuous variable in the dataset.</a:t>
            </a:r>
          </a:p>
          <a:p>
            <a:r>
              <a:rPr lang="en-US" altLang="ja-JP" sz="3200" b="1" dirty="0"/>
              <a:t>Quality of Sleep (scale: 1-10)</a:t>
            </a:r>
            <a:r>
              <a:rPr lang="en-US" altLang="ja-JP" sz="3200" dirty="0"/>
              <a:t>, </a:t>
            </a:r>
            <a:r>
              <a:rPr lang="en-US" altLang="ja-JP" sz="3200" b="1" dirty="0"/>
              <a:t>Stress Level (scale: 1-10)</a:t>
            </a:r>
            <a:r>
              <a:rPr lang="en-US" altLang="ja-JP" sz="3200" dirty="0"/>
              <a:t>, </a:t>
            </a:r>
            <a:r>
              <a:rPr lang="en-US" altLang="ja-JP" sz="3200" b="1" dirty="0"/>
              <a:t>Heart Rate (bpm)</a:t>
            </a:r>
            <a:r>
              <a:rPr lang="en-US" altLang="ja-JP" sz="3200" dirty="0"/>
              <a:t>, and </a:t>
            </a:r>
            <a:r>
              <a:rPr lang="en-US" altLang="ja-JP" sz="3200" b="1" dirty="0"/>
              <a:t>Daily Steps</a:t>
            </a:r>
            <a:r>
              <a:rPr lang="en-US" altLang="ja-JP" sz="3200" dirty="0"/>
              <a:t> are examples of an integer variable in the dataset.</a:t>
            </a:r>
          </a:p>
          <a:p>
            <a:r>
              <a:rPr lang="en-US" altLang="ja-JP" sz="3200" b="1" dirty="0"/>
              <a:t>BMI Category</a:t>
            </a:r>
            <a:r>
              <a:rPr lang="en-US" altLang="ja-JP" sz="3200" dirty="0"/>
              <a:t> is an example of an ordinal categorical variable in the dataset.</a:t>
            </a:r>
          </a:p>
          <a:p>
            <a:r>
              <a:rPr lang="en-US" altLang="ja-JP" sz="3200" b="1" dirty="0"/>
              <a:t>Gender</a:t>
            </a:r>
            <a:r>
              <a:rPr lang="en-US" altLang="ja-JP" sz="3200" dirty="0"/>
              <a:t>, </a:t>
            </a:r>
            <a:r>
              <a:rPr lang="en-US" altLang="ja-JP" sz="3200" b="1" dirty="0"/>
              <a:t>Occupation</a:t>
            </a:r>
            <a:r>
              <a:rPr lang="en-US" altLang="ja-JP" sz="3200" dirty="0"/>
              <a:t>, </a:t>
            </a:r>
            <a:r>
              <a:rPr lang="en-US" altLang="ja-JP" sz="3200" b="1" dirty="0"/>
              <a:t>Sleep Disorder</a:t>
            </a:r>
            <a:r>
              <a:rPr lang="en-US" altLang="ja-JP" sz="3200" dirty="0"/>
              <a:t> and are examples of a nominal categorical variable in the dataset.</a:t>
            </a:r>
          </a:p>
          <a:p>
            <a:pPr marL="914400" lvl="0" indent="-685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endParaRPr dirty="0">
              <a:solidFill>
                <a:srgbClr val="2D3D4A"/>
              </a:solidFill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endParaRPr sz="3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Typical Amount (Minutes) of Physical Activity</a:t>
            </a:r>
            <a:endParaRPr sz="6400"/>
          </a:p>
        </p:txBody>
      </p:sp>
      <p:sp>
        <p:nvSpPr>
          <p:cNvPr id="136" name="Google Shape;136;p17"/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115424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1"/>
                </a:solidFill>
              </a:rPr>
              <a:t>On this slide, provide the mean, median, and mode number of minutes of physical activity in the dataset.</a:t>
            </a:r>
            <a:endParaRPr dirty="0">
              <a:solidFill>
                <a:srgbClr val="2D3D4A"/>
              </a:solidFill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endParaRPr sz="3000" dirty="0">
              <a:solidFill>
                <a:srgbClr val="00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9FCAE9F-0724-F416-127C-DD0AA574D17D}"/>
              </a:ext>
            </a:extLst>
          </p:cNvPr>
          <p:cNvSpPr txBox="1"/>
          <p:nvPr/>
        </p:nvSpPr>
        <p:spPr>
          <a:xfrm>
            <a:off x="685800" y="3138366"/>
            <a:ext cx="541519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Base statistics number of "Minutes of physical activity“</a:t>
            </a:r>
            <a:endParaRPr lang="en-US" altLang="ja-JP" sz="3200" dirty="0"/>
          </a:p>
          <a:p>
            <a:endParaRPr lang="en-US" altLang="ja-JP" sz="3200" dirty="0"/>
          </a:p>
          <a:p>
            <a:r>
              <a:rPr lang="ja-JP" altLang="en-US" sz="3200" dirty="0"/>
              <a:t>mean: 59.17</a:t>
            </a:r>
            <a:endParaRPr lang="en-US" altLang="ja-JP" sz="3200" dirty="0"/>
          </a:p>
          <a:p>
            <a:r>
              <a:rPr lang="ja-JP" altLang="en-US" sz="3200" dirty="0"/>
              <a:t>median: 59.5</a:t>
            </a:r>
            <a:r>
              <a:rPr lang="en-US" altLang="ja-JP" sz="3200" dirty="0"/>
              <a:t>9</a:t>
            </a:r>
          </a:p>
          <a:p>
            <a:r>
              <a:rPr lang="ja-JP" altLang="en-US" sz="3200" dirty="0"/>
              <a:t>mode: 0     20    30</a:t>
            </a:r>
            <a:br>
              <a:rPr lang="en-US" altLang="ja-JP" sz="3200" dirty="0"/>
            </a:br>
            <a:r>
              <a:rPr lang="ja-JP" altLang="en-US" sz="3200" dirty="0"/>
              <a:t> 45     59     60</a:t>
            </a:r>
            <a:endParaRPr lang="en-US" altLang="ja-JP" sz="3200" dirty="0"/>
          </a:p>
          <a:p>
            <a:r>
              <a:rPr lang="ja-JP" altLang="en-US" sz="3200" dirty="0"/>
              <a:t>75     90    374</a:t>
            </a:r>
            <a:endParaRPr lang="en-US" altLang="ja-JP" sz="3200" dirty="0"/>
          </a:p>
          <a:p>
            <a:endParaRPr lang="en-US" altLang="ja-JP" sz="3200" dirty="0"/>
          </a:p>
          <a:p>
            <a:r>
              <a:rPr lang="ja-JP" altLang="en-US" sz="3200" dirty="0"/>
              <a:t>skewness: 2.61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1EBF35E-3F60-D93B-DDE2-0A410AA64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997" y="3176587"/>
            <a:ext cx="5172075" cy="3933825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96DAE13-74D2-A5CE-1453-EF9A0FEEF7DC}"/>
              </a:ext>
            </a:extLst>
          </p:cNvPr>
          <p:cNvSpPr txBox="1"/>
          <p:nvPr/>
        </p:nvSpPr>
        <p:spPr>
          <a:xfrm>
            <a:off x="11516195" y="3188699"/>
            <a:ext cx="55634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dirty="0"/>
              <a:t>The data is higly and strongly positively skwed. while the average and the median is around 59.</a:t>
            </a:r>
          </a:p>
          <a:p>
            <a:r>
              <a:rPr lang="ja-JP" altLang="en-US" sz="3600" dirty="0"/>
              <a:t>Seeing the histogram, it is not a type of data series in normal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Analysis of Daily Steps Taken</a:t>
            </a:r>
            <a:endParaRPr sz="6400"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1310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1"/>
                </a:solidFill>
              </a:rPr>
              <a:t>On this slide, provide the standard deviation, maximum, minimum, and range associated with the number of steps taken.</a:t>
            </a:r>
            <a:endParaRPr sz="3000" dirty="0">
              <a:solidFill>
                <a:srgbClr val="00000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6F5487-7FE9-CD8F-D04B-391F5524412C}"/>
              </a:ext>
            </a:extLst>
          </p:cNvPr>
          <p:cNvSpPr txBox="1"/>
          <p:nvPr/>
        </p:nvSpPr>
        <p:spPr>
          <a:xfrm>
            <a:off x="685800" y="3449330"/>
            <a:ext cx="5943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Daily Steps Taken</a:t>
            </a:r>
            <a:endParaRPr lang="en-US" altLang="ja-JP" sz="3200" dirty="0"/>
          </a:p>
          <a:p>
            <a:r>
              <a:rPr lang="ja-JP" altLang="en-US" sz="3200" dirty="0"/>
              <a:t>mean : 6816.84</a:t>
            </a:r>
            <a:endParaRPr lang="en-US" altLang="ja-JP" sz="3200" dirty="0"/>
          </a:p>
          <a:p>
            <a:r>
              <a:rPr lang="ja-JP" altLang="en-US" sz="3200" dirty="0"/>
              <a:t>standard deviation : 1617.9</a:t>
            </a:r>
            <a:r>
              <a:rPr lang="en-US" altLang="ja-JP" sz="3200" dirty="0"/>
              <a:t>2</a:t>
            </a:r>
          </a:p>
          <a:p>
            <a:r>
              <a:rPr lang="ja-JP" altLang="en-US" sz="3200" dirty="0"/>
              <a:t>max : 10000.0</a:t>
            </a:r>
            <a:endParaRPr lang="en-US" altLang="ja-JP" sz="3200" dirty="0"/>
          </a:p>
          <a:p>
            <a:r>
              <a:rPr lang="ja-JP" altLang="en-US" sz="3200" dirty="0"/>
              <a:t>min : 3000.0</a:t>
            </a:r>
            <a:endParaRPr lang="en-US" altLang="ja-JP" sz="3200" dirty="0"/>
          </a:p>
          <a:p>
            <a:endParaRPr lang="en-US" altLang="ja-JP" sz="3200" dirty="0"/>
          </a:p>
          <a:p>
            <a:r>
              <a:rPr lang="en-US" altLang="ja-JP" sz="3200" dirty="0"/>
              <a:t>Ranges from 3000 to 10000</a:t>
            </a:r>
          </a:p>
          <a:p>
            <a:endParaRPr lang="en-US" altLang="ja-JP" sz="3200" dirty="0"/>
          </a:p>
          <a:p>
            <a:r>
              <a:rPr lang="ja-JP" altLang="en-US" sz="3200" dirty="0"/>
              <a:t>skew: 0.17827733092832274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E6E137F-0D59-BE54-91CD-CC8E1CA17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176587"/>
            <a:ext cx="5257800" cy="3933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dirty="0"/>
              <a:t>Distribution of Heart Rates</a:t>
            </a:r>
            <a:endParaRPr sz="6400" dirty="0"/>
          </a:p>
        </p:txBody>
      </p:sp>
      <p:sp>
        <p:nvSpPr>
          <p:cNvPr id="148" name="Google Shape;148;p19"/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13258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1"/>
                </a:solidFill>
              </a:rPr>
              <a:t>On this slide, include a plot (graph) of the distribution of heart rates. What is the shape of the distribution? Are there any outliers?</a:t>
            </a:r>
            <a:endParaRPr dirty="0">
              <a:solidFill>
                <a:srgbClr val="2D3D4A"/>
              </a:solidFill>
            </a:endParaRPr>
          </a:p>
          <a:p>
            <a:pPr marL="228600" lvl="0" indent="0" algn="l" rtl="0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endParaRPr sz="3000" dirty="0">
              <a:solidFill>
                <a:srgbClr val="000000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EF1A1D2-35C0-B734-04D4-8307B69FD66C}"/>
              </a:ext>
            </a:extLst>
          </p:cNvPr>
          <p:cNvSpPr txBox="1"/>
          <p:nvPr/>
        </p:nvSpPr>
        <p:spPr>
          <a:xfrm>
            <a:off x="685800" y="3008412"/>
            <a:ext cx="5638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/>
              <a:t>Distribution of Heart Rates</a:t>
            </a:r>
          </a:p>
          <a:p>
            <a:endParaRPr lang="en-US" altLang="ja-JP" sz="3200" dirty="0"/>
          </a:p>
          <a:p>
            <a:r>
              <a:rPr lang="ja-JP" altLang="en-US" sz="3200" dirty="0"/>
              <a:t>skew: 1.2248235470533522</a:t>
            </a:r>
            <a:endParaRPr lang="en-US" altLang="ja-JP" sz="3200" dirty="0"/>
          </a:p>
          <a:p>
            <a:r>
              <a:rPr lang="ja-JP" altLang="en-US" sz="3200" dirty="0"/>
              <a:t>mean: 70.16577540106952</a:t>
            </a:r>
            <a:endParaRPr lang="en-US" altLang="ja-JP" sz="3200" dirty="0"/>
          </a:p>
          <a:p>
            <a:r>
              <a:rPr lang="ja-JP" altLang="en-US" sz="3200" dirty="0"/>
              <a:t>median: 70.0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84BB331-55E2-D540-D93D-16AD97C40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008412"/>
            <a:ext cx="5257800" cy="395287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49A2B08-7B19-F8B9-F2F5-334AE2B65653}"/>
              </a:ext>
            </a:extLst>
          </p:cNvPr>
          <p:cNvSpPr txBox="1"/>
          <p:nvPr/>
        </p:nvSpPr>
        <p:spPr>
          <a:xfrm>
            <a:off x="11201400" y="3008412"/>
            <a:ext cx="65151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The distribution is “right skewed” </a:t>
            </a:r>
            <a:r>
              <a:rPr lang="en-US" altLang="ja-JP" sz="3200" dirty="0"/>
              <a:t>a</a:t>
            </a:r>
            <a:r>
              <a:rPr lang="ja-JP" altLang="en-US" sz="3200" dirty="0"/>
              <a:t>s seen in the graph</a:t>
            </a:r>
            <a:r>
              <a:rPr lang="en-US" altLang="ja-JP" sz="3200" dirty="0"/>
              <a:t>.</a:t>
            </a:r>
            <a:r>
              <a:rPr lang="ja-JP" altLang="en-US" sz="3200" dirty="0"/>
              <a:t> </a:t>
            </a:r>
            <a:r>
              <a:rPr lang="en-US" altLang="ja-JP" sz="3200" dirty="0"/>
              <a:t>T</a:t>
            </a:r>
            <a:r>
              <a:rPr lang="ja-JP" altLang="en-US" sz="3200" dirty="0"/>
              <a:t>he distribution has a longer "tail" towards the larger values on the right side.</a:t>
            </a:r>
          </a:p>
          <a:p>
            <a:r>
              <a:rPr lang="ja-JP" altLang="en-US" sz="3200" dirty="0"/>
              <a:t>The majority of the data points are clustered on the left side of the distribution.</a:t>
            </a:r>
          </a:p>
          <a:p>
            <a:r>
              <a:rPr lang="ja-JP" altLang="en-US" sz="3200" dirty="0"/>
              <a:t>But the median and the mean is almost the same.</a:t>
            </a:r>
          </a:p>
          <a:p>
            <a:r>
              <a:rPr lang="ja-JP" altLang="en-US" sz="3200" dirty="0"/>
              <a:t>So while skewed, those data is not that pulling the distribution</a:t>
            </a:r>
            <a:r>
              <a:rPr lang="en-US" altLang="ja-JP" sz="3200" dirty="0"/>
              <a:t>.</a:t>
            </a:r>
            <a:endParaRPr lang="ja-JP" alt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ユーザー設定</PresentationFormat>
  <Paragraphs>52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Arial</vt:lpstr>
      <vt:lpstr>Open Sans</vt:lpstr>
      <vt:lpstr>Open Sans Light</vt:lpstr>
      <vt:lpstr>Roboto Mono Light</vt:lpstr>
      <vt:lpstr>Udacity 2024 Student Template</vt:lpstr>
      <vt:lpstr>Sleep Health and Lifestyle Analysis</vt:lpstr>
      <vt:lpstr>Agenda</vt:lpstr>
      <vt:lpstr>Data Description</vt:lpstr>
      <vt:lpstr>Typical Amount (Minutes) of Physical Activity</vt:lpstr>
      <vt:lpstr>Analysis of Daily Steps Taken</vt:lpstr>
      <vt:lpstr>Distribution of Heart Rates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Hajime Kawata</cp:lastModifiedBy>
  <cp:revision>1</cp:revision>
  <dcterms:modified xsi:type="dcterms:W3CDTF">2025-11-09T11:26:10Z</dcterms:modified>
</cp:coreProperties>
</file>